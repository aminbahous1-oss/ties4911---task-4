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77" r:id="rId5"/>
    <p:sldId id="260" r:id="rId6"/>
    <p:sldId id="276" r:id="rId7"/>
    <p:sldId id="271" r:id="rId8"/>
    <p:sldId id="261" r:id="rId9"/>
    <p:sldId id="262" r:id="rId10"/>
    <p:sldId id="272" r:id="rId11"/>
    <p:sldId id="263" r:id="rId12"/>
    <p:sldId id="264" r:id="rId13"/>
    <p:sldId id="273" r:id="rId14"/>
    <p:sldId id="265" r:id="rId15"/>
    <p:sldId id="266" r:id="rId16"/>
    <p:sldId id="274" r:id="rId17"/>
    <p:sldId id="267" r:id="rId18"/>
    <p:sldId id="268" r:id="rId19"/>
    <p:sldId id="275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8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TIES 4911 – Task 4 Deep Learning for Image Classification and Deployment</a:t>
            </a:r>
          </a:p>
          <a:p>
            <a:endParaRPr dirty="0"/>
          </a:p>
          <a:p>
            <a:r>
              <a:rPr dirty="0"/>
              <a:t>Student Name: </a:t>
            </a:r>
            <a:r>
              <a:rPr lang="tr-TR" dirty="0" smtClean="0"/>
              <a:t>Bahous Amine</a:t>
            </a:r>
          </a:p>
          <a:p>
            <a:endParaRPr lang="tr-TR" dirty="0"/>
          </a:p>
          <a:p>
            <a:r>
              <a:rPr dirty="0" smtClean="0"/>
              <a:t>Course:</a:t>
            </a:r>
            <a:r>
              <a:rPr lang="tr-TR" smtClean="0"/>
              <a:t> </a:t>
            </a:r>
            <a:r>
              <a:rPr smtClean="0"/>
              <a:t>TIES </a:t>
            </a:r>
            <a:r>
              <a:rPr dirty="0"/>
              <a:t>4911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056" y="457200"/>
            <a:ext cx="8229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INTRODUCTION</a:t>
            </a:r>
            <a:r>
              <a:rPr lang="tr-TR" dirty="0" smtClean="0"/>
              <a:t> 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dirty="0" smtClean="0"/>
              <a:t>This </a:t>
            </a:r>
            <a:r>
              <a:rPr dirty="0"/>
              <a:t>project explores convolutional neural networks (CNNs) using </a:t>
            </a:r>
            <a:r>
              <a:rPr dirty="0" err="1"/>
              <a:t>Keras</a:t>
            </a:r>
            <a:endParaRPr dirty="0"/>
          </a:p>
          <a:p>
            <a:r>
              <a:rPr dirty="0"/>
              <a:t>Applications for image classification. The work covers model comparison,</a:t>
            </a:r>
          </a:p>
          <a:p>
            <a:r>
              <a:rPr dirty="0"/>
              <a:t>transfer learning, fine-tuning strategies, REST API deployment, and</a:t>
            </a:r>
          </a:p>
          <a:p>
            <a:r>
              <a:rPr dirty="0"/>
              <a:t>multi-label classification.</a:t>
            </a:r>
          </a:p>
          <a:p>
            <a:endParaRPr dirty="0"/>
          </a:p>
          <a:p>
            <a:r>
              <a:rPr dirty="0"/>
              <a:t>The project demonstrates a complete deep learning workflow:</a:t>
            </a:r>
          </a:p>
          <a:p>
            <a:endParaRPr dirty="0"/>
          </a:p>
          <a:p>
            <a:r>
              <a:rPr dirty="0"/>
              <a:t>Data Preparation → Model Selection → Transfer Learning → Evaluation →</a:t>
            </a:r>
          </a:p>
          <a:p>
            <a:r>
              <a:rPr dirty="0"/>
              <a:t>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2. DATASET</a:t>
            </a:r>
          </a:p>
          <a:p>
            <a:r>
              <a:rPr lang="fr-FR" dirty="0"/>
              <a:t>DESCRIPTION – VEHICLES DOMAIN</a:t>
            </a:r>
          </a:p>
          <a:p>
            <a:endParaRPr lang="fr-FR" dirty="0"/>
          </a:p>
          <a:p>
            <a:r>
              <a:rPr lang="en-US" dirty="0"/>
              <a:t>This project used two different datasets across the tasks. It is important to clearly distinguish between them, as Tasks 4-1 and 4-2 were performed on a scene classification dataset, while Tasks 4-3 and 4-4 were performed on a vehicle classification dataset</a:t>
            </a:r>
            <a:r>
              <a:rPr lang="en-US" dirty="0" smtClean="0"/>
              <a:t>.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 smtClean="0"/>
          </a:p>
          <a:p>
            <a:r>
              <a:rPr lang="en-US" dirty="0" smtClean="0"/>
              <a:t>2.1 </a:t>
            </a:r>
            <a:r>
              <a:rPr lang="en-US" dirty="0"/>
              <a:t>Dataset for Task 4-1 and Task 4-2</a:t>
            </a:r>
            <a:br>
              <a:rPr lang="en-US" dirty="0"/>
            </a:br>
            <a:r>
              <a:rPr lang="en-US" dirty="0"/>
              <a:t>(Scene Classification Dataset)</a:t>
            </a:r>
          </a:p>
          <a:p>
            <a:r>
              <a:rPr lang="en-US" dirty="0"/>
              <a:t>For Task 4-1 and Task 4-2, a scene classification dataset was used with three classes:</a:t>
            </a:r>
          </a:p>
          <a:p>
            <a:r>
              <a:rPr lang="tr-TR" dirty="0" smtClean="0"/>
              <a:t>- </a:t>
            </a:r>
            <a:r>
              <a:rPr lang="en-US" dirty="0" smtClean="0"/>
              <a:t>Stadium</a:t>
            </a:r>
            <a:endParaRPr lang="en-US" dirty="0"/>
          </a:p>
          <a:p>
            <a:r>
              <a:rPr lang="tr-TR" dirty="0" smtClean="0"/>
              <a:t>- </a:t>
            </a:r>
            <a:r>
              <a:rPr lang="en-US" dirty="0" smtClean="0"/>
              <a:t>Basketball</a:t>
            </a:r>
            <a:endParaRPr lang="en-US" dirty="0"/>
          </a:p>
          <a:p>
            <a:r>
              <a:rPr lang="tr-TR" dirty="0" smtClean="0"/>
              <a:t>- </a:t>
            </a:r>
            <a:r>
              <a:rPr lang="en-US" dirty="0" smtClean="0"/>
              <a:t>Concert</a:t>
            </a:r>
            <a:endParaRPr lang="tr-TR" dirty="0" smtClean="0"/>
          </a:p>
          <a:p>
            <a:endParaRPr lang="tr-TR" dirty="0"/>
          </a:p>
          <a:p>
            <a:r>
              <a:rPr lang="en-US" dirty="0"/>
              <a:t>Dataset characteristics:</a:t>
            </a:r>
          </a:p>
          <a:p>
            <a:r>
              <a:rPr lang="en-US" dirty="0"/>
              <a:t>Images captured in different lighting conditions</a:t>
            </a:r>
          </a:p>
          <a:p>
            <a:r>
              <a:rPr lang="en-US" dirty="0"/>
              <a:t>Indoor and outdoor scenes</a:t>
            </a:r>
          </a:p>
          <a:p>
            <a:r>
              <a:rPr lang="en-US" dirty="0"/>
              <a:t>Various camera angles and perspectives</a:t>
            </a:r>
          </a:p>
          <a:p>
            <a:r>
              <a:rPr lang="en-US" dirty="0"/>
              <a:t>Different crowd densities</a:t>
            </a:r>
          </a:p>
          <a:p>
            <a:r>
              <a:rPr lang="en-US" dirty="0"/>
              <a:t>Complex backgrounds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49" y="399241"/>
            <a:ext cx="2857500" cy="16002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855" y="4761691"/>
            <a:ext cx="2619375" cy="174307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49" y="4942666"/>
            <a:ext cx="2924175" cy="15621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574" y="399241"/>
            <a:ext cx="2143125" cy="21431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49" y="2542366"/>
            <a:ext cx="2466975" cy="185737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849" y="399241"/>
            <a:ext cx="2143125" cy="21431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118" y="2843302"/>
            <a:ext cx="2752725" cy="16668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225" y="5037467"/>
            <a:ext cx="2115618" cy="1372498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0" y="2713816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0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2.2 Dataset for Task 4-3 and Task 4-4</a:t>
            </a:r>
            <a:br>
              <a:rPr lang="en-US" dirty="0"/>
            </a:br>
            <a:r>
              <a:rPr lang="en-US" dirty="0"/>
              <a:t>(Vehicle Classification Dataset)</a:t>
            </a:r>
          </a:p>
          <a:p>
            <a:r>
              <a:rPr lang="en-US" dirty="0"/>
              <a:t>For Task 4-3 and Task 4-4, a different dataset was prepared in the vehicle domain, consisting of three object classes:</a:t>
            </a:r>
          </a:p>
          <a:p>
            <a:endParaRPr lang="en-US" dirty="0"/>
          </a:p>
          <a:p>
            <a:endParaRPr lang="fr-FR" dirty="0"/>
          </a:p>
          <a:p>
            <a:r>
              <a:rPr lang="fr-FR" dirty="0"/>
              <a:t>• Car • Bicycle • </a:t>
            </a:r>
            <a:r>
              <a:rPr lang="fr-FR" dirty="0" err="1"/>
              <a:t>Motorcycle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 Structure:</a:t>
            </a:r>
          </a:p>
          <a:p>
            <a:endParaRPr lang="fr-FR" dirty="0"/>
          </a:p>
          <a:p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folder</a:t>
            </a:r>
            <a:r>
              <a:rPr lang="fr-FR" dirty="0"/>
              <a:t> </a:t>
            </a:r>
            <a:r>
              <a:rPr lang="fr-FR" dirty="0" err="1"/>
              <a:t>contains</a:t>
            </a:r>
            <a:r>
              <a:rPr lang="fr-FR" dirty="0"/>
              <a:t> real-world images </a:t>
            </a:r>
            <a:r>
              <a:rPr lang="fr-FR" dirty="0" err="1"/>
              <a:t>collected</a:t>
            </a:r>
            <a:r>
              <a:rPr lang="fr-FR" dirty="0"/>
              <a:t> to </a:t>
            </a:r>
            <a:r>
              <a:rPr lang="fr-FR" dirty="0" err="1"/>
              <a:t>represent</a:t>
            </a:r>
            <a:r>
              <a:rPr lang="fr-FR" dirty="0"/>
              <a:t> diverse</a:t>
            </a:r>
          </a:p>
          <a:p>
            <a:r>
              <a:rPr lang="fr-FR" dirty="0"/>
              <a:t>conditions </a:t>
            </a:r>
            <a:r>
              <a:rPr lang="fr-FR" dirty="0" err="1"/>
              <a:t>such</a:t>
            </a:r>
            <a:r>
              <a:rPr lang="fr-FR" dirty="0"/>
              <a:t> as:</a:t>
            </a:r>
          </a:p>
          <a:p>
            <a:endParaRPr lang="fr-FR" dirty="0"/>
          </a:p>
          <a:p>
            <a:r>
              <a:rPr lang="fr-FR" dirty="0"/>
              <a:t>-  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lighting</a:t>
            </a:r>
            <a:r>
              <a:rPr lang="fr-FR" dirty="0"/>
              <a:t> </a:t>
            </a:r>
            <a:r>
              <a:rPr lang="fr-FR" dirty="0" err="1"/>
              <a:t>environments</a:t>
            </a:r>
            <a:endParaRPr lang="fr-FR" dirty="0"/>
          </a:p>
          <a:p>
            <a:r>
              <a:rPr lang="fr-FR" dirty="0"/>
              <a:t>-   </a:t>
            </a:r>
            <a:r>
              <a:rPr lang="fr-FR" dirty="0" err="1"/>
              <a:t>Different</a:t>
            </a:r>
            <a:r>
              <a:rPr lang="fr-FR" dirty="0"/>
              <a:t> angles and perspectives</a:t>
            </a:r>
          </a:p>
          <a:p>
            <a:r>
              <a:rPr lang="fr-FR" dirty="0"/>
              <a:t>-   Background </a:t>
            </a:r>
            <a:r>
              <a:rPr lang="fr-FR" dirty="0" err="1"/>
              <a:t>clutter</a:t>
            </a:r>
            <a:endParaRPr lang="fr-FR" dirty="0"/>
          </a:p>
          <a:p>
            <a:r>
              <a:rPr lang="fr-FR" dirty="0"/>
              <a:t>-   Partial occlusion</a:t>
            </a:r>
          </a:p>
          <a:p>
            <a:r>
              <a:rPr lang="fr-FR" dirty="0"/>
              <a:t>-   </a:t>
            </a:r>
            <a:r>
              <a:rPr lang="fr-FR" dirty="0" err="1"/>
              <a:t>Various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scales</a:t>
            </a:r>
            <a:endParaRPr lang="fr-FR" dirty="0"/>
          </a:p>
          <a:p>
            <a:endParaRPr lang="tr-TR" dirty="0" smtClean="0"/>
          </a:p>
          <a:p>
            <a:endParaRPr lang="tr-TR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88189" y="367968"/>
            <a:ext cx="848839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Dataset Structure:</a:t>
            </a:r>
          </a:p>
          <a:p>
            <a:endParaRPr lang="en-US" dirty="0"/>
          </a:p>
          <a:p>
            <a:r>
              <a:rPr lang="en-US" dirty="0"/>
              <a:t>Each folder contains real-world images collected to represent diverse</a:t>
            </a:r>
          </a:p>
          <a:p>
            <a:r>
              <a:rPr lang="en-US" dirty="0"/>
              <a:t>conditions such as:</a:t>
            </a:r>
          </a:p>
          <a:p>
            <a:endParaRPr lang="en-US" dirty="0"/>
          </a:p>
          <a:p>
            <a:r>
              <a:rPr lang="en-US" dirty="0"/>
              <a:t>-   Different lighting environments</a:t>
            </a:r>
          </a:p>
          <a:p>
            <a:r>
              <a:rPr lang="en-US" dirty="0"/>
              <a:t>-   Different angles and perspectives</a:t>
            </a:r>
          </a:p>
          <a:p>
            <a:r>
              <a:rPr lang="en-US" dirty="0"/>
              <a:t>-   Background clutter</a:t>
            </a:r>
          </a:p>
          <a:p>
            <a:r>
              <a:rPr lang="en-US" dirty="0"/>
              <a:t>-   Partial occlusion</a:t>
            </a:r>
          </a:p>
          <a:p>
            <a:r>
              <a:rPr lang="en-US" dirty="0"/>
              <a:t>-   Various object scales</a:t>
            </a:r>
          </a:p>
          <a:p>
            <a:endParaRPr lang="en-US" dirty="0"/>
          </a:p>
          <a:p>
            <a:r>
              <a:rPr lang="en-US" dirty="0"/>
              <a:t>The dataset was intentionally not overly large. This made transfer</a:t>
            </a:r>
          </a:p>
          <a:p>
            <a:r>
              <a:rPr lang="en-US" dirty="0"/>
              <a:t>learning necessary, since training a deep CNN from scratch on a small</a:t>
            </a:r>
          </a:p>
          <a:p>
            <a:r>
              <a:rPr lang="en-US" dirty="0"/>
              <a:t>dataset would lead to overfitting.</a:t>
            </a:r>
          </a:p>
          <a:p>
            <a:endParaRPr lang="en-US" dirty="0"/>
          </a:p>
          <a:p>
            <a:r>
              <a:rPr lang="en-US" dirty="0"/>
              <a:t>Data Augmentation was applied during training to improve generalization:</a:t>
            </a:r>
          </a:p>
          <a:p>
            <a:endParaRPr lang="en-US" dirty="0"/>
          </a:p>
          <a:p>
            <a:r>
              <a:rPr lang="en-US" dirty="0"/>
              <a:t>• Rotation (±15°) • Width/height shifts (10%) • Zoom (15%) • Horizontal</a:t>
            </a:r>
          </a:p>
          <a:p>
            <a:r>
              <a:rPr lang="en-US" dirty="0"/>
              <a:t>flipping</a:t>
            </a:r>
          </a:p>
          <a:p>
            <a:endParaRPr lang="en-US" dirty="0"/>
          </a:p>
          <a:p>
            <a:r>
              <a:rPr lang="en-US" dirty="0"/>
              <a:t>Validation data was not augmented to preserve realistic evaluation.</a:t>
            </a:r>
          </a:p>
        </p:txBody>
      </p:sp>
    </p:spTree>
    <p:extLst>
      <p:ext uri="{BB962C8B-B14F-4D97-AF65-F5344CB8AC3E}">
        <p14:creationId xmlns:p14="http://schemas.microsoft.com/office/powerpoint/2010/main" val="293796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79" y="575813"/>
            <a:ext cx="2857500" cy="16002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79" y="2680388"/>
            <a:ext cx="3028950" cy="151447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39" y="590100"/>
            <a:ext cx="2914650" cy="15716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474" y="3821411"/>
            <a:ext cx="1752600" cy="260985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79" y="4783436"/>
            <a:ext cx="2781300" cy="16478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39" y="4688186"/>
            <a:ext cx="2619375" cy="17430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549" y="575813"/>
            <a:ext cx="1743075" cy="261937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119" y="2518463"/>
            <a:ext cx="27336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4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smtClean="0"/>
              <a:t>3. TASK 4-1</a:t>
            </a:r>
          </a:p>
          <a:p>
            <a:r>
              <a:rPr dirty="0" smtClean="0"/>
              <a:t>– PRETRAINED MODEL COMPARISON</a:t>
            </a:r>
            <a:endParaRPr lang="tr-TR" dirty="0" smtClean="0"/>
          </a:p>
          <a:p>
            <a:endParaRPr lang="tr-TR" dirty="0"/>
          </a:p>
          <a:p>
            <a:r>
              <a:rPr lang="fr-FR" dirty="0"/>
              <a:t>Objective: Compare </a:t>
            </a:r>
            <a:r>
              <a:rPr lang="fr-FR" dirty="0" err="1"/>
              <a:t>three</a:t>
            </a:r>
            <a:r>
              <a:rPr lang="fr-FR" dirty="0"/>
              <a:t> </a:t>
            </a:r>
            <a:r>
              <a:rPr lang="fr-FR" dirty="0" err="1"/>
              <a:t>pretrained</a:t>
            </a:r>
            <a:r>
              <a:rPr lang="fr-FR" dirty="0"/>
              <a:t> CNN architectures </a:t>
            </a:r>
            <a:r>
              <a:rPr lang="fr-FR" dirty="0" err="1"/>
              <a:t>under</a:t>
            </a:r>
            <a:r>
              <a:rPr lang="fr-FR" dirty="0"/>
              <a:t> </a:t>
            </a:r>
            <a:r>
              <a:rPr lang="fr-FR" dirty="0" err="1"/>
              <a:t>identical</a:t>
            </a:r>
            <a:endParaRPr lang="fr-FR" dirty="0"/>
          </a:p>
          <a:p>
            <a:r>
              <a:rPr lang="fr-FR" dirty="0"/>
              <a:t>conditions:</a:t>
            </a:r>
          </a:p>
          <a:p>
            <a:endParaRPr lang="fr-FR" dirty="0"/>
          </a:p>
          <a:p>
            <a:r>
              <a:rPr lang="fr-FR" dirty="0"/>
              <a:t>• MobileNetV2 (</a:t>
            </a:r>
            <a:r>
              <a:rPr lang="fr-FR" dirty="0" err="1"/>
              <a:t>lightweight</a:t>
            </a:r>
            <a:r>
              <a:rPr lang="fr-FR" dirty="0"/>
              <a:t> architecture) • ResNet50 (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residual</a:t>
            </a:r>
            <a:endParaRPr lang="fr-FR" dirty="0"/>
          </a:p>
          <a:p>
            <a:r>
              <a:rPr lang="fr-FR" dirty="0"/>
              <a:t>network) • VGG16 (</a:t>
            </a:r>
            <a:r>
              <a:rPr lang="fr-FR" dirty="0" err="1"/>
              <a:t>classical</a:t>
            </a:r>
            <a:r>
              <a:rPr lang="fr-FR" dirty="0"/>
              <a:t> CNN)</a:t>
            </a:r>
          </a:p>
          <a:p>
            <a:endParaRPr lang="fr-FR" dirty="0"/>
          </a:p>
          <a:p>
            <a:r>
              <a:rPr lang="fr-FR" dirty="0"/>
              <a:t>All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:</a:t>
            </a:r>
          </a:p>
          <a:p>
            <a:endParaRPr lang="fr-FR" dirty="0"/>
          </a:p>
          <a:p>
            <a:r>
              <a:rPr lang="fr-FR" dirty="0"/>
              <a:t>• Image size: 224 × 224 • Batch size: 16 • Adam </a:t>
            </a:r>
            <a:r>
              <a:rPr lang="fr-FR" dirty="0" err="1"/>
              <a:t>optimizer</a:t>
            </a:r>
            <a:r>
              <a:rPr lang="fr-FR" dirty="0"/>
              <a:t> • </a:t>
            </a:r>
            <a:r>
              <a:rPr lang="fr-FR" dirty="0" err="1"/>
              <a:t>Categorical</a:t>
            </a:r>
            <a:endParaRPr lang="fr-FR" dirty="0"/>
          </a:p>
          <a:p>
            <a:r>
              <a:rPr lang="fr-FR" dirty="0" err="1"/>
              <a:t>crossentropy</a:t>
            </a:r>
            <a:r>
              <a:rPr lang="fr-FR" dirty="0"/>
              <a:t> • </a:t>
            </a:r>
            <a:r>
              <a:rPr lang="fr-FR" dirty="0" err="1"/>
              <a:t>EarlyStopping</a:t>
            </a:r>
            <a:r>
              <a:rPr lang="fr-FR" dirty="0"/>
              <a:t> and </a:t>
            </a:r>
            <a:r>
              <a:rPr lang="fr-FR" dirty="0" err="1"/>
              <a:t>ReduceLROnPlateau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Only</a:t>
            </a:r>
            <a:r>
              <a:rPr lang="fr-FR" dirty="0"/>
              <a:t> the classification </a:t>
            </a:r>
            <a:r>
              <a:rPr lang="fr-FR" dirty="0" err="1"/>
              <a:t>head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trainable</a:t>
            </a:r>
            <a:r>
              <a:rPr lang="fr-FR" dirty="0"/>
              <a:t> (base model </a:t>
            </a:r>
            <a:r>
              <a:rPr lang="fr-FR" dirty="0" err="1"/>
              <a:t>frozen</a:t>
            </a:r>
            <a:r>
              <a:rPr lang="fr-FR" dirty="0"/>
              <a:t>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Results</a:t>
            </a:r>
            <a:r>
              <a:rPr lang="fr-FR" dirty="0"/>
              <a:t>:</a:t>
            </a:r>
          </a:p>
          <a:p>
            <a:endParaRPr lang="fr-FR" dirty="0"/>
          </a:p>
          <a:p>
            <a:r>
              <a:rPr lang="fr-FR" dirty="0"/>
              <a:t>ResNet50 </a:t>
            </a:r>
            <a:r>
              <a:rPr lang="fr-FR" dirty="0" err="1"/>
              <a:t>achieved</a:t>
            </a:r>
            <a:r>
              <a:rPr lang="fr-FR" dirty="0"/>
              <a:t> the best validation </a:t>
            </a:r>
            <a:r>
              <a:rPr lang="fr-FR" dirty="0" err="1"/>
              <a:t>accuracy</a:t>
            </a:r>
            <a:r>
              <a:rPr lang="fr-FR" dirty="0"/>
              <a:t> (≈ 96.97%) MobileNetV2</a:t>
            </a:r>
          </a:p>
          <a:p>
            <a:r>
              <a:rPr lang="fr-FR" dirty="0" err="1"/>
              <a:t>achieved</a:t>
            </a:r>
            <a:r>
              <a:rPr lang="fr-FR" dirty="0"/>
              <a:t> ≈ 87.88% VGG16 </a:t>
            </a:r>
            <a:r>
              <a:rPr lang="fr-FR" dirty="0" err="1"/>
              <a:t>achieved</a:t>
            </a:r>
            <a:r>
              <a:rPr lang="fr-FR" dirty="0"/>
              <a:t> ≈ 81.82%</a:t>
            </a:r>
          </a:p>
          <a:p>
            <a:endParaRPr lang="fr-FR" dirty="0"/>
          </a:p>
          <a:p>
            <a:r>
              <a:rPr lang="fr-FR" dirty="0"/>
              <a:t>ResNet50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produced</a:t>
            </a:r>
            <a:r>
              <a:rPr lang="fr-FR" dirty="0"/>
              <a:t> the </a:t>
            </a:r>
            <a:r>
              <a:rPr lang="fr-FR" dirty="0" err="1"/>
              <a:t>lowest</a:t>
            </a:r>
            <a:r>
              <a:rPr lang="fr-FR" dirty="0"/>
              <a:t> validation </a:t>
            </a:r>
            <a:r>
              <a:rPr lang="fr-FR" dirty="0" err="1"/>
              <a:t>loss</a:t>
            </a:r>
            <a:r>
              <a:rPr lang="fr-FR" dirty="0"/>
              <a:t> (≈ 0.18).</a:t>
            </a:r>
          </a:p>
          <a:p>
            <a:r>
              <a:rPr dirty="0" smtClean="0"/>
              <a:t>Confusion </a:t>
            </a:r>
            <a:r>
              <a:rPr dirty="0"/>
              <a:t>Matrix Analysis (ResNet50):</a:t>
            </a:r>
          </a:p>
          <a:p>
            <a:endParaRPr dirty="0"/>
          </a:p>
          <a:p>
            <a:r>
              <a:rPr dirty="0"/>
              <a:t>• Basketball: 12/12 correct • Concert: 11/11 correct • Stadium: 9</a:t>
            </a:r>
          </a:p>
          <a:p>
            <a:r>
              <a:rPr dirty="0"/>
              <a:t>correct, 1 misclassified</a:t>
            </a:r>
          </a:p>
          <a:p>
            <a:endParaRPr dirty="0"/>
          </a:p>
          <a:p>
            <a:r>
              <a:rPr dirty="0"/>
              <a:t>Only one misclassification occurred, indicating strong class separation.</a:t>
            </a:r>
          </a:p>
          <a:p>
            <a:endParaRPr dirty="0"/>
          </a:p>
          <a:p>
            <a:r>
              <a:rPr dirty="0"/>
              <a:t>Conclusion: ResNet50 provided the best trade-off between accuracy and</a:t>
            </a:r>
          </a:p>
          <a:p>
            <a:r>
              <a:rPr dirty="0"/>
              <a:t>stability, and was selected as the strongest baseline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21" y="733245"/>
            <a:ext cx="3456324" cy="167733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434" y="224286"/>
            <a:ext cx="5473566" cy="312709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3" y="3605842"/>
            <a:ext cx="5007120" cy="302235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736" y="3605842"/>
            <a:ext cx="3532887" cy="302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78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4. TASK 4-2</a:t>
            </a:r>
          </a:p>
          <a:p>
            <a:r>
              <a:rPr dirty="0"/>
              <a:t>– TRANSFER LEARNING AND </a:t>
            </a:r>
            <a:r>
              <a:rPr dirty="0" smtClean="0"/>
              <a:t>FINE-TUNING</a:t>
            </a:r>
            <a:endParaRPr lang="tr-TR" dirty="0" smtClean="0"/>
          </a:p>
          <a:p>
            <a:endParaRPr lang="tr-TR" dirty="0"/>
          </a:p>
          <a:p>
            <a:r>
              <a:rPr lang="en-US" dirty="0"/>
              <a:t>Objective: Evaluate whether fine-tuning improves performance compared to</a:t>
            </a:r>
          </a:p>
          <a:p>
            <a:r>
              <a:rPr lang="en-US" dirty="0"/>
              <a:t>keeping the </a:t>
            </a:r>
            <a:r>
              <a:rPr lang="en-US" dirty="0" err="1"/>
              <a:t>pretrained</a:t>
            </a:r>
            <a:r>
              <a:rPr lang="en-US" dirty="0"/>
              <a:t> backbone frozen.</a:t>
            </a:r>
          </a:p>
          <a:p>
            <a:endParaRPr lang="en-US" dirty="0"/>
          </a:p>
          <a:p>
            <a:r>
              <a:rPr lang="en-US" dirty="0"/>
              <a:t>Two configurations were tested:</a:t>
            </a:r>
          </a:p>
          <a:p>
            <a:endParaRPr lang="en-US" dirty="0"/>
          </a:p>
          <a:p>
            <a:r>
              <a:rPr lang="en-US" dirty="0"/>
              <a:t>1)  Frozen backbone</a:t>
            </a:r>
          </a:p>
          <a:p>
            <a:r>
              <a:rPr lang="en-US" dirty="0"/>
              <a:t>    -   All </a:t>
            </a:r>
            <a:r>
              <a:rPr lang="en-US" dirty="0" err="1"/>
              <a:t>pretrained</a:t>
            </a:r>
            <a:r>
              <a:rPr lang="en-US" dirty="0"/>
              <a:t> layers frozen</a:t>
            </a:r>
          </a:p>
          <a:p>
            <a:r>
              <a:rPr lang="en-US" dirty="0"/>
              <a:t>    -   Only classifier head trained</a:t>
            </a:r>
          </a:p>
          <a:p>
            <a:r>
              <a:rPr lang="en-US" dirty="0"/>
              <a:t>2)  Fine-tuned (last 20 layers)</a:t>
            </a:r>
          </a:p>
          <a:p>
            <a:r>
              <a:rPr lang="en-US" dirty="0"/>
              <a:t>    -   Last 20 layers unfrozen</a:t>
            </a:r>
          </a:p>
          <a:p>
            <a:r>
              <a:rPr lang="en-US" dirty="0"/>
              <a:t>    -   Lower learning rate used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dirty="0"/>
              <a:t>Results Summary:</a:t>
            </a:r>
          </a:p>
          <a:p>
            <a:endParaRPr dirty="0"/>
          </a:p>
          <a:p>
            <a:r>
              <a:rPr dirty="0"/>
              <a:t>MobileNetV2: performance decreased significantly when fine-tuned</a:t>
            </a:r>
          </a:p>
          <a:p>
            <a:r>
              <a:rPr dirty="0"/>
              <a:t>ResNet50: performance decreased when </a:t>
            </a:r>
            <a:r>
              <a:rPr dirty="0" smtClean="0"/>
              <a:t>fine-tuned</a:t>
            </a:r>
            <a:endParaRPr lang="tr-TR" dirty="0" smtClean="0"/>
          </a:p>
          <a:p>
            <a:r>
              <a:rPr dirty="0" smtClean="0"/>
              <a:t>VGG16</a:t>
            </a:r>
            <a:r>
              <a:rPr dirty="0"/>
              <a:t>: </a:t>
            </a:r>
            <a:r>
              <a:rPr dirty="0" smtClean="0"/>
              <a:t>slight</a:t>
            </a:r>
            <a:r>
              <a:rPr lang="tr-TR" dirty="0" smtClean="0"/>
              <a:t> </a:t>
            </a:r>
            <a:r>
              <a:rPr dirty="0" smtClean="0"/>
              <a:t>improvement </a:t>
            </a:r>
            <a:r>
              <a:rPr dirty="0"/>
              <a:t>when fine-tuned</a:t>
            </a:r>
          </a:p>
          <a:p>
            <a:endParaRPr dirty="0"/>
          </a:p>
          <a:p>
            <a:r>
              <a:rPr dirty="0"/>
              <a:t>Interpretation:</a:t>
            </a:r>
          </a:p>
          <a:p>
            <a:endParaRPr dirty="0"/>
          </a:p>
          <a:p>
            <a:r>
              <a:rPr dirty="0"/>
              <a:t>For small datasets, </a:t>
            </a:r>
            <a:r>
              <a:rPr dirty="0" err="1"/>
              <a:t>pretrained</a:t>
            </a:r>
            <a:r>
              <a:rPr dirty="0"/>
              <a:t> features are already well optimized.</a:t>
            </a:r>
          </a:p>
          <a:p>
            <a:r>
              <a:rPr dirty="0"/>
              <a:t>Unfreezing layers introduces too many trainable parameters, leading to:</a:t>
            </a:r>
          </a:p>
          <a:p>
            <a:endParaRPr dirty="0"/>
          </a:p>
          <a:p>
            <a:r>
              <a:rPr dirty="0"/>
              <a:t>• Overfitting • Instability • Performance degradation</a:t>
            </a:r>
          </a:p>
          <a:p>
            <a:endParaRPr dirty="0"/>
          </a:p>
          <a:p>
            <a:r>
              <a:rPr dirty="0"/>
              <a:t>Conclusion: For this dataset size, frozen backbones were more reliable</a:t>
            </a:r>
          </a:p>
          <a:p>
            <a:r>
              <a:rPr dirty="0"/>
              <a:t>than fine-tuning.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97" y="509651"/>
            <a:ext cx="3863675" cy="196613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969" y="2915728"/>
            <a:ext cx="5035563" cy="377667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576" y="509651"/>
            <a:ext cx="3444538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5. TASK 4-3</a:t>
            </a:r>
          </a:p>
          <a:p>
            <a:r>
              <a:rPr dirty="0"/>
              <a:t>– VEHICLE CLASSIFICATION </a:t>
            </a:r>
            <a:r>
              <a:rPr dirty="0" smtClean="0"/>
              <a:t>SERVICE</a:t>
            </a:r>
            <a:endParaRPr lang="tr-TR" dirty="0" smtClean="0"/>
          </a:p>
          <a:p>
            <a:endParaRPr lang="tr-TR" dirty="0"/>
          </a:p>
          <a:p>
            <a:r>
              <a:rPr lang="en-US" dirty="0"/>
              <a:t>A new experiment was conducted specifically on the vehicle dataset (car,</a:t>
            </a:r>
          </a:p>
          <a:p>
            <a:r>
              <a:rPr lang="en-US" dirty="0"/>
              <a:t>bicycle, motorcycle).</a:t>
            </a:r>
          </a:p>
          <a:p>
            <a:endParaRPr lang="en-US" dirty="0"/>
          </a:p>
          <a:p>
            <a:r>
              <a:rPr lang="en-US" dirty="0"/>
              <a:t>Model comparison results:</a:t>
            </a:r>
          </a:p>
          <a:p>
            <a:endParaRPr lang="en-US" dirty="0"/>
          </a:p>
          <a:p>
            <a:r>
              <a:rPr lang="en-US" dirty="0"/>
              <a:t>EfficientNetB0: 100% (Frozen), 96% (Fine-tuned) MobileNetV2: 100%</a:t>
            </a:r>
          </a:p>
          <a:p>
            <a:r>
              <a:rPr lang="en-US" dirty="0"/>
              <a:t>(Frozen), 96% (Fine-tuned) ResNet50: 100% (Frozen and Fine-tuned)</a:t>
            </a:r>
          </a:p>
          <a:p>
            <a:endParaRPr lang="en-US" dirty="0"/>
          </a:p>
          <a:p>
            <a:r>
              <a:rPr lang="en-US" dirty="0"/>
              <a:t>ResNet50 (Frozen) was selected for deployment.</a:t>
            </a:r>
          </a:p>
          <a:p>
            <a:endParaRPr lang="en-US" dirty="0"/>
          </a:p>
          <a:p>
            <a:r>
              <a:rPr lang="en-US" dirty="0"/>
              <a:t>Model Architecture Summary:</a:t>
            </a:r>
          </a:p>
          <a:p>
            <a:endParaRPr lang="en-US" dirty="0"/>
          </a:p>
          <a:p>
            <a:r>
              <a:rPr lang="en-US" dirty="0"/>
              <a:t>Total parameters: 23,593,859 Trainable parameters: 6,147 Non-trainable</a:t>
            </a:r>
          </a:p>
          <a:p>
            <a:r>
              <a:rPr lang="en-US" dirty="0"/>
              <a:t>parameters: 23,587,712</a:t>
            </a:r>
          </a:p>
          <a:p>
            <a:endParaRPr lang="en-US" dirty="0"/>
          </a:p>
          <a:p>
            <a:r>
              <a:rPr lang="en-US" dirty="0"/>
              <a:t>Only the classifier head was trained, which prevented overfitting and</a:t>
            </a:r>
          </a:p>
          <a:p>
            <a:r>
              <a:rPr lang="en-US" dirty="0"/>
              <a:t>allowed fast convergence.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dirty="0"/>
              <a:t>REST API Implementation:</a:t>
            </a:r>
          </a:p>
          <a:p>
            <a:endParaRPr dirty="0"/>
          </a:p>
          <a:p>
            <a:r>
              <a:rPr dirty="0"/>
              <a:t>The trained model was saved as: vehicle_resnet50_frozen.keras</a:t>
            </a:r>
          </a:p>
          <a:p>
            <a:endParaRPr dirty="0"/>
          </a:p>
          <a:p>
            <a:r>
              <a:rPr dirty="0"/>
              <a:t>Class labels saved as: </a:t>
            </a:r>
            <a:r>
              <a:rPr dirty="0" err="1"/>
              <a:t>vehicle_class_names.json</a:t>
            </a:r>
            <a:endParaRPr dirty="0"/>
          </a:p>
          <a:p>
            <a:endParaRPr dirty="0"/>
          </a:p>
          <a:p>
            <a:r>
              <a:rPr dirty="0"/>
              <a:t>Endpoints:</a:t>
            </a:r>
          </a:p>
          <a:p>
            <a:endParaRPr dirty="0"/>
          </a:p>
          <a:p>
            <a:r>
              <a:rPr dirty="0"/>
              <a:t>GET /health Returns service status.</a:t>
            </a:r>
          </a:p>
          <a:p>
            <a:endParaRPr dirty="0"/>
          </a:p>
          <a:p>
            <a:r>
              <a:rPr dirty="0"/>
              <a:t>POST /classify Accepts an uploaded image and returns:</a:t>
            </a:r>
          </a:p>
          <a:p>
            <a:endParaRPr dirty="0"/>
          </a:p>
          <a:p>
            <a:r>
              <a:rPr dirty="0"/>
              <a:t>{ “prediction”: “car”, “confidence”: 0.92 }</a:t>
            </a:r>
          </a:p>
          <a:p>
            <a:endParaRPr dirty="0"/>
          </a:p>
          <a:p>
            <a:r>
              <a:rPr dirty="0"/>
              <a:t>This demonstrates successful end-to-end deployment from training to</a:t>
            </a:r>
          </a:p>
          <a:p>
            <a:r>
              <a:rPr dirty="0"/>
              <a:t>real-time inference.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7" y="446038"/>
            <a:ext cx="3665538" cy="211854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644" y="686089"/>
            <a:ext cx="3337849" cy="163844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76" y="2889849"/>
            <a:ext cx="6816734" cy="36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2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1347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6. TASK 4-4</a:t>
            </a:r>
          </a:p>
          <a:p>
            <a:r>
              <a:rPr dirty="0"/>
              <a:t>– MULTI-LABEL </a:t>
            </a:r>
            <a:r>
              <a:rPr dirty="0" smtClean="0"/>
              <a:t>CLASSIFICATION</a:t>
            </a:r>
            <a:endParaRPr lang="tr-TR" dirty="0" smtClean="0"/>
          </a:p>
          <a:p>
            <a:endParaRPr lang="tr-TR" dirty="0"/>
          </a:p>
          <a:p>
            <a:r>
              <a:rPr lang="en-US" dirty="0"/>
              <a:t>The system was extended to support multi-label classification, where an</a:t>
            </a:r>
          </a:p>
          <a:p>
            <a:r>
              <a:rPr lang="en-US" dirty="0"/>
              <a:t>image can contain multiple objects simultaneously.</a:t>
            </a:r>
          </a:p>
          <a:p>
            <a:endParaRPr lang="en-US" dirty="0"/>
          </a:p>
          <a:p>
            <a:r>
              <a:rPr lang="en-US" dirty="0"/>
              <a:t>Changes implemented:</a:t>
            </a:r>
          </a:p>
          <a:p>
            <a:endParaRPr lang="en-US" dirty="0"/>
          </a:p>
          <a:p>
            <a:r>
              <a:rPr lang="en-US" dirty="0"/>
              <a:t>• Output activation changed from </a:t>
            </a:r>
            <a:r>
              <a:rPr lang="en-US" dirty="0" err="1"/>
              <a:t>Softmax</a:t>
            </a:r>
            <a:r>
              <a:rPr lang="en-US" dirty="0"/>
              <a:t> to Sigmoid • Loss changed from</a:t>
            </a:r>
          </a:p>
          <a:p>
            <a:r>
              <a:rPr lang="en-US" dirty="0"/>
              <a:t>Categorical </a:t>
            </a:r>
            <a:r>
              <a:rPr lang="en-US" dirty="0" err="1"/>
              <a:t>Crossentropy</a:t>
            </a:r>
            <a:r>
              <a:rPr lang="en-US" dirty="0"/>
              <a:t> to Binary </a:t>
            </a:r>
            <a:r>
              <a:rPr lang="en-US" dirty="0" err="1"/>
              <a:t>Crossentropy</a:t>
            </a:r>
            <a:r>
              <a:rPr lang="en-US" dirty="0"/>
              <a:t> • Labels stored in CSV</a:t>
            </a:r>
          </a:p>
          <a:p>
            <a:r>
              <a:rPr lang="en-US" dirty="0"/>
              <a:t>format (multi-hot encoding)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854015" y="517586"/>
            <a:ext cx="600398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output: [0.9, 0.1, 0.8]</a:t>
            </a:r>
          </a:p>
          <a:p>
            <a:endParaRPr lang="en-US" dirty="0"/>
          </a:p>
          <a:p>
            <a:r>
              <a:rPr lang="en-US" dirty="0"/>
              <a:t>Classification Report (Threshold = 0.5):</a:t>
            </a:r>
          </a:p>
          <a:p>
            <a:endParaRPr lang="en-US" dirty="0"/>
          </a:p>
          <a:p>
            <a:r>
              <a:rPr lang="en-US" dirty="0"/>
              <a:t>Car: Precision = 1.00 Recall = 1.00</a:t>
            </a:r>
          </a:p>
          <a:p>
            <a:endParaRPr lang="en-US" dirty="0"/>
          </a:p>
          <a:p>
            <a:r>
              <a:rPr lang="en-US" dirty="0"/>
              <a:t>Bicycle: Precision = 1.00 Recall = 0.95</a:t>
            </a:r>
          </a:p>
          <a:p>
            <a:endParaRPr lang="en-US" dirty="0"/>
          </a:p>
          <a:p>
            <a:r>
              <a:rPr lang="en-US" dirty="0"/>
              <a:t>Motorcycle: Precision = 0.91 Recall = 1.00</a:t>
            </a:r>
          </a:p>
          <a:p>
            <a:endParaRPr lang="en-US" dirty="0"/>
          </a:p>
          <a:p>
            <a:r>
              <a:rPr lang="en-US" dirty="0"/>
              <a:t>Macro F1-score ≈ 0.98</a:t>
            </a:r>
          </a:p>
          <a:p>
            <a:endParaRPr lang="en-US" dirty="0"/>
          </a:p>
          <a:p>
            <a:r>
              <a:rPr lang="en-US" dirty="0"/>
              <a:t>The multi-label extension achieved very strong performance.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921"/>
            <a:ext cx="4043630" cy="351824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0673"/>
            <a:ext cx="4503810" cy="224809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599" y="838614"/>
            <a:ext cx="4804764" cy="488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15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7. FINAL</a:t>
            </a:r>
          </a:p>
          <a:p>
            <a:r>
              <a:rPr dirty="0" smtClean="0"/>
              <a:t>CONCLUSIONS</a:t>
            </a:r>
            <a:endParaRPr lang="tr-TR" dirty="0" smtClean="0"/>
          </a:p>
          <a:p>
            <a:endParaRPr lang="tr-TR" dirty="0"/>
          </a:p>
          <a:p>
            <a:r>
              <a:rPr lang="en-US" dirty="0"/>
              <a:t>1.  ResNet50 consistently performed best across tasks.</a:t>
            </a:r>
          </a:p>
          <a:p>
            <a:r>
              <a:rPr lang="en-US" dirty="0"/>
              <a:t>2.  Frozen backbones were more stable than fine-tuning for small</a:t>
            </a:r>
          </a:p>
          <a:p>
            <a:r>
              <a:rPr lang="en-US" dirty="0"/>
              <a:t>    datasets.</a:t>
            </a:r>
          </a:p>
          <a:p>
            <a:r>
              <a:rPr lang="en-US" dirty="0"/>
              <a:t>3.  Data augmentation improved generalization.</a:t>
            </a:r>
          </a:p>
          <a:p>
            <a:r>
              <a:rPr lang="en-US" dirty="0"/>
              <a:t>4.  The REST API successfully deployed the trained model.</a:t>
            </a:r>
          </a:p>
          <a:p>
            <a:r>
              <a:rPr lang="en-US" dirty="0"/>
              <a:t>5.  Multi-label classification was successfully implemented using</a:t>
            </a:r>
          </a:p>
          <a:p>
            <a:r>
              <a:rPr lang="en-US" dirty="0"/>
              <a:t>    sigmoid outputs.</a:t>
            </a:r>
          </a:p>
          <a:p>
            <a:endParaRPr lang="en-US" dirty="0"/>
          </a:p>
          <a:p>
            <a:r>
              <a:rPr lang="en-US" dirty="0"/>
              <a:t>This project demonstrates a complete deep learning lifecycle:</a:t>
            </a:r>
          </a:p>
          <a:p>
            <a:endParaRPr lang="en-US" dirty="0"/>
          </a:p>
          <a:p>
            <a:r>
              <a:rPr lang="en-US" dirty="0"/>
              <a:t>Model Comparison → Transfer Learning → Fine-Tuning Analysis → Deployment</a:t>
            </a:r>
          </a:p>
          <a:p>
            <a:r>
              <a:rPr lang="en-US" dirty="0"/>
              <a:t>as REST API → Multi-Label Extension</a:t>
            </a:r>
          </a:p>
          <a:p>
            <a:endParaRPr lang="en-US" dirty="0"/>
          </a:p>
          <a:p>
            <a:r>
              <a:rPr lang="en-US" dirty="0"/>
              <a:t>The system is practical, reproducible, and ready for real-world use.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905</Words>
  <Application>Microsoft Office PowerPoint</Application>
  <PresentationFormat>Ekran Gösterisi (4:3)</PresentationFormat>
  <Paragraphs>209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2026-02-27T02:56:27Z</dcterms:modified>
  <cp:category/>
</cp:coreProperties>
</file>